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5" r:id="rId1"/>
  </p:sldMasterIdLst>
  <p:sldIdLst>
    <p:sldId id="268" r:id="rId2"/>
    <p:sldId id="256" r:id="rId3"/>
    <p:sldId id="257" r:id="rId4"/>
    <p:sldId id="258" r:id="rId5"/>
    <p:sldId id="259" r:id="rId6"/>
    <p:sldId id="260" r:id="rId7"/>
    <p:sldId id="261" r:id="rId8"/>
    <p:sldId id="262" r:id="rId9"/>
    <p:sldId id="263" r:id="rId10"/>
    <p:sldId id="264" r:id="rId11"/>
    <p:sldId id="265" r:id="rId12"/>
    <p:sldId id="266"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F8C91DA-0F88-4E3F-9EDB-D67EC7FA24B2}">
          <p14:sldIdLst>
            <p14:sldId id="268"/>
            <p14:sldId id="256"/>
            <p14:sldId id="257"/>
            <p14:sldId id="258"/>
            <p14:sldId id="259"/>
            <p14:sldId id="260"/>
            <p14:sldId id="261"/>
            <p14:sldId id="262"/>
            <p14:sldId id="263"/>
            <p14:sldId id="264"/>
            <p14:sldId id="265"/>
            <p14:sldId id="266"/>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E700B27-DE4C-4B9E-BB11-B9027034A00F}" type="datetimeFigureOut">
              <a:rPr lang="en-US" smtClean="0"/>
              <a:pPr/>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67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5726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009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252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smtClean="0"/>
              <a:t>3/18/2024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8713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smtClean="0"/>
              <a:t>3/18/2024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8974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smtClean="0"/>
              <a:t>3/18/2024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0497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6440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23972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00184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900332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81882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9311030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278556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0124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3144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E0D914D-B099-4142-A885-11F276715148}" type="datetimeFigureOut">
              <a:rPr lang="en-US" smtClean="0"/>
              <a:t>3/18/2024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2928340"/>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302" y="2547257"/>
            <a:ext cx="4467497" cy="3722914"/>
          </a:xfrm>
        </p:spPr>
        <p:txBody>
          <a:bodyPr>
            <a:normAutofit/>
          </a:bodyPr>
          <a:lstStyle/>
          <a:p>
            <a:r>
              <a:rPr lang="en-US" sz="8900" dirty="0" smtClean="0">
                <a:latin typeface="Edwardian Script ITC" panose="030303020407070D0804" pitchFamily="66" charset="0"/>
              </a:rPr>
              <a:t>Welcome</a:t>
            </a:r>
            <a:r>
              <a:rPr lang="en-US" sz="6600" dirty="0" smtClean="0">
                <a:latin typeface="Harlow Solid Italic" panose="04030604020F02020D02" pitchFamily="82" charset="0"/>
              </a:rPr>
              <a:t/>
            </a:r>
            <a:br>
              <a:rPr lang="en-US" sz="6600" dirty="0" smtClean="0">
                <a:latin typeface="Harlow Solid Italic" panose="04030604020F02020D02" pitchFamily="82" charset="0"/>
              </a:rPr>
            </a:br>
            <a:r>
              <a:rPr lang="en-US" sz="6600" dirty="0">
                <a:latin typeface="Harlow Solid Italic" panose="04030604020F02020D02" pitchFamily="82" charset="0"/>
              </a:rPr>
              <a:t> </a:t>
            </a:r>
            <a:r>
              <a:rPr lang="en-US" sz="6600" dirty="0" smtClean="0">
                <a:latin typeface="Harlow Solid Italic" panose="04030604020F02020D02" pitchFamily="82" charset="0"/>
              </a:rPr>
              <a:t>           </a:t>
            </a:r>
            <a:br>
              <a:rPr lang="en-US" sz="6600" dirty="0" smtClean="0">
                <a:latin typeface="Harlow Solid Italic" panose="04030604020F02020D02" pitchFamily="82" charset="0"/>
              </a:rPr>
            </a:br>
            <a:r>
              <a:rPr lang="en-US" sz="6600" dirty="0">
                <a:latin typeface="Harlow Solid Italic" panose="04030604020F02020D02" pitchFamily="82" charset="0"/>
              </a:rPr>
              <a:t> </a:t>
            </a:r>
            <a:r>
              <a:rPr lang="en-US" sz="6600" dirty="0" smtClean="0">
                <a:latin typeface="Harlow Solid Italic" panose="04030604020F02020D02" pitchFamily="82" charset="0"/>
              </a:rPr>
              <a:t>               </a:t>
            </a:r>
            <a:endParaRPr lang="en-IN" sz="8800" dirty="0">
              <a:latin typeface="Harlow Solid Italic" panose="04030604020F02020D02" pitchFamily="82" charset="0"/>
            </a:endParaRPr>
          </a:p>
        </p:txBody>
      </p:sp>
    </p:spTree>
    <p:extLst>
      <p:ext uri="{BB962C8B-B14F-4D97-AF65-F5344CB8AC3E}">
        <p14:creationId xmlns:p14="http://schemas.microsoft.com/office/powerpoint/2010/main" val="17186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005" y="803851"/>
            <a:ext cx="8761413" cy="706964"/>
          </a:xfrm>
        </p:spPr>
        <p:txBody>
          <a:bodyPr>
            <a:normAutofit fontScale="90000"/>
          </a:bodyPr>
          <a:lstStyle/>
          <a:p>
            <a:r>
              <a:rPr lang="en-US" sz="2800" b="1" dirty="0" smtClean="0">
                <a:solidFill>
                  <a:schemeClr val="accent2">
                    <a:lumMod val="60000"/>
                    <a:lumOff val="40000"/>
                  </a:schemeClr>
                </a:solidFill>
              </a:rPr>
              <a:t>RELATIONAL DATABASE MANAGEMENT SYSTEM</a:t>
            </a:r>
            <a:br>
              <a:rPr lang="en-US" sz="2800" b="1" dirty="0" smtClean="0">
                <a:solidFill>
                  <a:schemeClr val="accent2">
                    <a:lumMod val="60000"/>
                    <a:lumOff val="40000"/>
                  </a:schemeClr>
                </a:solidFill>
              </a:rPr>
            </a:br>
            <a:r>
              <a:rPr lang="en-US" sz="2800" b="1" dirty="0" smtClean="0">
                <a:solidFill>
                  <a:schemeClr val="accent2">
                    <a:lumMod val="60000"/>
                    <a:lumOff val="40000"/>
                  </a:schemeClr>
                </a:solidFill>
              </a:rPr>
              <a:t>(RDBMS)</a:t>
            </a:r>
            <a:br>
              <a:rPr lang="en-US" sz="2800" b="1" dirty="0" smtClean="0">
                <a:solidFill>
                  <a:schemeClr val="accent2">
                    <a:lumMod val="60000"/>
                    <a:lumOff val="40000"/>
                  </a:schemeClr>
                </a:solidFill>
              </a:rPr>
            </a:br>
            <a:r>
              <a:rPr lang="en-US" sz="2800" b="1" dirty="0" smtClean="0">
                <a:solidFill>
                  <a:schemeClr val="accent2">
                    <a:lumMod val="60000"/>
                    <a:lumOff val="40000"/>
                  </a:schemeClr>
                </a:solidFill>
              </a:rPr>
              <a:t>ARCHITECTURE</a:t>
            </a:r>
            <a:r>
              <a:rPr lang="en-US" sz="2800" dirty="0" smtClean="0">
                <a:solidFill>
                  <a:schemeClr val="tx1"/>
                </a:solidFill>
              </a:rPr>
              <a:t/>
            </a:r>
            <a:br>
              <a:rPr lang="en-US" sz="2800" dirty="0" smtClean="0">
                <a:solidFill>
                  <a:schemeClr val="tx1"/>
                </a:solidFill>
              </a:rPr>
            </a:br>
            <a:r>
              <a:rPr lang="en-US" sz="2800" dirty="0">
                <a:solidFill>
                  <a:schemeClr val="tx1"/>
                </a:solidFill>
              </a:rPr>
              <a:t/>
            </a:r>
            <a:br>
              <a:rPr lang="en-US" sz="2800" dirty="0">
                <a:solidFill>
                  <a:schemeClr val="tx1"/>
                </a:solidFill>
              </a:rPr>
            </a:br>
            <a:endParaRPr lang="en-IN" sz="2800" dirty="0">
              <a:solidFill>
                <a:schemeClr val="tx1"/>
              </a:solidFill>
            </a:endParaRPr>
          </a:p>
        </p:txBody>
      </p:sp>
      <p:sp>
        <p:nvSpPr>
          <p:cNvPr id="10" name="Content Placeholder 9"/>
          <p:cNvSpPr>
            <a:spLocks noGrp="1"/>
          </p:cNvSpPr>
          <p:nvPr>
            <p:ph idx="1"/>
          </p:nvPr>
        </p:nvSpPr>
        <p:spPr>
          <a:xfrm>
            <a:off x="677334" y="2873829"/>
            <a:ext cx="8596668" cy="3167533"/>
          </a:xfrm>
        </p:spPr>
        <p:txBody>
          <a:bodyPr/>
          <a:lstStyle/>
          <a:p>
            <a:r>
              <a:rPr lang="en-US" dirty="0" smtClean="0">
                <a:solidFill>
                  <a:schemeClr val="tx1">
                    <a:lumMod val="95000"/>
                    <a:lumOff val="5000"/>
                  </a:schemeClr>
                </a:solidFill>
              </a:rPr>
              <a:t>SUBMITTED BY:</a:t>
            </a:r>
          </a:p>
          <a:p>
            <a:r>
              <a:rPr lang="en-US" dirty="0" smtClean="0">
                <a:solidFill>
                  <a:schemeClr val="tx1">
                    <a:lumMod val="95000"/>
                    <a:lumOff val="5000"/>
                  </a:schemeClr>
                </a:solidFill>
              </a:rPr>
              <a:t>SIDDHI DATTATRAY GAIWAL FROM </a:t>
            </a:r>
            <a:r>
              <a:rPr lang="en-US" dirty="0" err="1" smtClean="0">
                <a:solidFill>
                  <a:schemeClr val="tx1">
                    <a:lumMod val="95000"/>
                    <a:lumOff val="5000"/>
                  </a:schemeClr>
                </a:solidFill>
              </a:rPr>
              <a:t>Fybsc</a:t>
            </a:r>
            <a:r>
              <a:rPr lang="en-US" dirty="0" smtClean="0">
                <a:solidFill>
                  <a:schemeClr val="tx1">
                    <a:lumMod val="95000"/>
                    <a:lumOff val="5000"/>
                  </a:schemeClr>
                </a:solidFill>
              </a:rPr>
              <a:t>(CS)</a:t>
            </a:r>
            <a:endParaRPr lang="en-IN" dirty="0">
              <a:solidFill>
                <a:schemeClr val="tx1">
                  <a:lumMod val="95000"/>
                  <a:lumOff val="5000"/>
                </a:schemeClr>
              </a:solidFill>
            </a:endParaRPr>
          </a:p>
        </p:txBody>
      </p:sp>
    </p:spTree>
    <p:extLst>
      <p:ext uri="{BB962C8B-B14F-4D97-AF65-F5344CB8AC3E}">
        <p14:creationId xmlns:p14="http://schemas.microsoft.com/office/powerpoint/2010/main" val="3072661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41001" y="555655"/>
            <a:ext cx="10983755" cy="706964"/>
          </a:xfrm>
        </p:spPr>
        <p:txBody>
          <a:bodyPr>
            <a:normAutofit/>
          </a:bodyPr>
          <a:lstStyle/>
          <a:p>
            <a:r>
              <a:rPr lang="en-US" dirty="0" smtClean="0"/>
              <a:t>DATA MODELS</a:t>
            </a:r>
            <a:endParaRPr lang="en-IN" dirty="0"/>
          </a:p>
        </p:txBody>
      </p:sp>
      <p:sp>
        <p:nvSpPr>
          <p:cNvPr id="7" name="Content Placeholder 6"/>
          <p:cNvSpPr>
            <a:spLocks noGrp="1"/>
          </p:cNvSpPr>
          <p:nvPr>
            <p:ph idx="1"/>
          </p:nvPr>
        </p:nvSpPr>
        <p:spPr>
          <a:xfrm>
            <a:off x="658567" y="2002610"/>
            <a:ext cx="8761412" cy="3039654"/>
          </a:xfrm>
          <a:ln>
            <a:noFill/>
          </a:ln>
        </p:spPr>
        <p:txBody>
          <a:bodyPr>
            <a:normAutofit/>
          </a:bodyPr>
          <a:lstStyle/>
          <a:p>
            <a:pPr>
              <a:buFont typeface="Wingdings" panose="05000000000000000000" pitchFamily="2" charset="2"/>
              <a:buChar char="Ø"/>
            </a:pPr>
            <a:r>
              <a:rPr lang="en-US" dirty="0" smtClean="0">
                <a:solidFill>
                  <a:schemeClr val="tx1"/>
                </a:solidFill>
              </a:rPr>
              <a:t>A </a:t>
            </a:r>
            <a:r>
              <a:rPr lang="en-US" dirty="0">
                <a:solidFill>
                  <a:schemeClr val="tx1"/>
                </a:solidFill>
              </a:rPr>
              <a:t>collection of concepts that can be used to describe the structure of a relational database</a:t>
            </a:r>
            <a:r>
              <a:rPr lang="en-US" dirty="0" smtClean="0">
                <a:solidFill>
                  <a:schemeClr val="tx1"/>
                </a:solidFill>
              </a:rPr>
              <a:t>.</a:t>
            </a:r>
          </a:p>
          <a:p>
            <a:pPr>
              <a:buFont typeface="Wingdings" panose="05000000000000000000" pitchFamily="2" charset="2"/>
              <a:buChar char="Ø"/>
            </a:pPr>
            <a:r>
              <a:rPr lang="en-US" dirty="0" smtClean="0">
                <a:solidFill>
                  <a:schemeClr val="tx1"/>
                </a:solidFill>
              </a:rPr>
              <a:t>By </a:t>
            </a:r>
            <a:r>
              <a:rPr lang="en-US" dirty="0">
                <a:solidFill>
                  <a:schemeClr val="tx1"/>
                </a:solidFill>
              </a:rPr>
              <a:t>the structure we mean the data types, relationships, and constraints that should hold on the data</a:t>
            </a:r>
            <a:r>
              <a:rPr lang="en-US" dirty="0" smtClean="0">
                <a:solidFill>
                  <a:schemeClr val="tx1"/>
                </a:solidFill>
              </a:rPr>
              <a:t>.</a:t>
            </a:r>
          </a:p>
          <a:p>
            <a:pPr>
              <a:buFont typeface="Wingdings" panose="05000000000000000000" pitchFamily="2" charset="2"/>
              <a:buChar char="Ø"/>
            </a:pPr>
            <a:r>
              <a:rPr lang="en-US" dirty="0" smtClean="0">
                <a:solidFill>
                  <a:schemeClr val="tx1"/>
                </a:solidFill>
              </a:rPr>
              <a:t>Also </a:t>
            </a:r>
            <a:r>
              <a:rPr lang="en-US" dirty="0">
                <a:solidFill>
                  <a:schemeClr val="tx1"/>
                </a:solidFill>
              </a:rPr>
              <a:t>includes basic operations for specifying retrievals and updates on the relational database</a:t>
            </a:r>
            <a:r>
              <a:rPr lang="en-US" dirty="0" smtClean="0">
                <a:solidFill>
                  <a:schemeClr val="tx1"/>
                </a:solidFill>
              </a:rPr>
              <a:t>.</a:t>
            </a:r>
          </a:p>
          <a:p>
            <a:pPr>
              <a:buFont typeface="Wingdings" panose="05000000000000000000" pitchFamily="2" charset="2"/>
              <a:buChar char="Ø"/>
            </a:pPr>
            <a:r>
              <a:rPr lang="en-US" dirty="0" smtClean="0">
                <a:solidFill>
                  <a:schemeClr val="tx1"/>
                </a:solidFill>
              </a:rPr>
              <a:t>It </a:t>
            </a:r>
            <a:r>
              <a:rPr lang="en-US" dirty="0">
                <a:solidFill>
                  <a:schemeClr val="tx1"/>
                </a:solidFill>
              </a:rPr>
              <a:t>is becoming more common to include concepts to specify the dynamic aspect or </a:t>
            </a:r>
            <a:r>
              <a:rPr lang="en-US" dirty="0" err="1">
                <a:solidFill>
                  <a:schemeClr val="tx1"/>
                </a:solidFill>
              </a:rPr>
              <a:t>behaviour</a:t>
            </a:r>
            <a:r>
              <a:rPr lang="en-US" dirty="0">
                <a:solidFill>
                  <a:schemeClr val="tx1"/>
                </a:solidFill>
              </a:rPr>
              <a:t> of a relational database application.</a:t>
            </a:r>
            <a:endParaRPr lang="en-US" dirty="0" smtClean="0">
              <a:solidFill>
                <a:schemeClr val="tx1"/>
              </a:solidFill>
            </a:endParaRPr>
          </a:p>
        </p:txBody>
      </p:sp>
    </p:spTree>
    <p:extLst>
      <p:ext uri="{BB962C8B-B14F-4D97-AF65-F5344CB8AC3E}">
        <p14:creationId xmlns:p14="http://schemas.microsoft.com/office/powerpoint/2010/main" val="4161848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All users should be able to access same </a:t>
            </a:r>
            <a:r>
              <a:rPr lang="en-US" dirty="0" smtClean="0"/>
              <a:t>data</a:t>
            </a:r>
          </a:p>
          <a:p>
            <a:pPr>
              <a:buFont typeface="Wingdings" panose="05000000000000000000" pitchFamily="2" charset="2"/>
              <a:buChar char="Ø"/>
            </a:pPr>
            <a:r>
              <a:rPr lang="en-US" dirty="0" smtClean="0"/>
              <a:t>"A </a:t>
            </a:r>
            <a:r>
              <a:rPr lang="en-US" dirty="0"/>
              <a:t>user's view is immune to changes made in other views</a:t>
            </a:r>
            <a:r>
              <a:rPr lang="en-US" dirty="0" smtClean="0"/>
              <a:t>.</a:t>
            </a:r>
          </a:p>
          <a:p>
            <a:pPr>
              <a:buFont typeface="Wingdings" panose="05000000000000000000" pitchFamily="2" charset="2"/>
              <a:buChar char="Ø"/>
            </a:pPr>
            <a:r>
              <a:rPr lang="en-US" dirty="0" smtClean="0"/>
              <a:t>"</a:t>
            </a:r>
            <a:r>
              <a:rPr lang="en-US" dirty="0"/>
              <a:t>Users should not need to know physical relational database storage details</a:t>
            </a:r>
            <a:r>
              <a:rPr lang="en-US" dirty="0" smtClean="0"/>
              <a:t>.</a:t>
            </a:r>
          </a:p>
          <a:p>
            <a:pPr>
              <a:buFont typeface="Wingdings" panose="05000000000000000000" pitchFamily="2" charset="2"/>
              <a:buChar char="Ø"/>
            </a:pPr>
            <a:r>
              <a:rPr lang="en-US" dirty="0" smtClean="0"/>
              <a:t>"</a:t>
            </a:r>
            <a:r>
              <a:rPr lang="en-US" dirty="0"/>
              <a:t>DBA should be able to change relational database storage structures without affecting the user's view</a:t>
            </a:r>
            <a:r>
              <a:rPr lang="en-US" dirty="0" smtClean="0"/>
              <a:t>.</a:t>
            </a:r>
          </a:p>
          <a:p>
            <a:pPr>
              <a:buFont typeface="Wingdings" panose="05000000000000000000" pitchFamily="2" charset="2"/>
              <a:buChar char="Ø"/>
            </a:pPr>
            <a:r>
              <a:rPr lang="en-US" dirty="0" smtClean="0"/>
              <a:t>"</a:t>
            </a:r>
            <a:r>
              <a:rPr lang="en-US" dirty="0"/>
              <a:t>Internal structure of relational database should be unaffected by changes to physical aspects of storage</a:t>
            </a:r>
            <a:r>
              <a:rPr lang="en-US" dirty="0" smtClean="0"/>
              <a:t>.</a:t>
            </a:r>
          </a:p>
          <a:p>
            <a:pPr>
              <a:buFont typeface="Wingdings" panose="05000000000000000000" pitchFamily="2" charset="2"/>
              <a:buChar char="Ø"/>
            </a:pPr>
            <a:r>
              <a:rPr lang="en-US" dirty="0" smtClean="0"/>
              <a:t>"</a:t>
            </a:r>
            <a:r>
              <a:rPr lang="en-US" dirty="0"/>
              <a:t>DBA should be able to change conceptual structure of database without affecting all users.</a:t>
            </a:r>
            <a:endParaRPr lang="en-IN" dirty="0"/>
          </a:p>
        </p:txBody>
      </p:sp>
    </p:spTree>
    <p:extLst>
      <p:ext uri="{BB962C8B-B14F-4D97-AF65-F5344CB8AC3E}">
        <p14:creationId xmlns:p14="http://schemas.microsoft.com/office/powerpoint/2010/main" val="3133965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RDBMS ARCHITECTURE</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*The logical RDBMS architecture deals with the way data is stored and presented to users.</a:t>
            </a:r>
            <a:endParaRPr lang="en-IN" dirty="0"/>
          </a:p>
        </p:txBody>
      </p:sp>
    </p:spTree>
    <p:extLst>
      <p:ext uri="{BB962C8B-B14F-4D97-AF65-F5344CB8AC3E}">
        <p14:creationId xmlns:p14="http://schemas.microsoft.com/office/powerpoint/2010/main" val="2282148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Level Architecture of RDBMS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A major purpose of a database system is to provide users with an abstract view of the data. That is the system hides certain details of how the data is stored and maintained</a:t>
            </a:r>
            <a:r>
              <a:rPr lang="en-US" dirty="0" smtClean="0"/>
              <a:t>.</a:t>
            </a:r>
          </a:p>
          <a:p>
            <a:pPr>
              <a:buFont typeface="Wingdings" panose="05000000000000000000" pitchFamily="2" charset="2"/>
              <a:buChar char="Ø"/>
            </a:pPr>
            <a:r>
              <a:rPr lang="en-US" dirty="0" smtClean="0"/>
              <a:t>"</a:t>
            </a:r>
            <a:r>
              <a:rPr lang="en-US" dirty="0"/>
              <a:t>External or View Level</a:t>
            </a:r>
            <a:r>
              <a:rPr lang="en-US" dirty="0" smtClean="0"/>
              <a:t>.</a:t>
            </a:r>
          </a:p>
          <a:p>
            <a:pPr>
              <a:buFont typeface="Wingdings" panose="05000000000000000000" pitchFamily="2" charset="2"/>
              <a:buChar char="Ø"/>
            </a:pPr>
            <a:r>
              <a:rPr lang="en-US" dirty="0" smtClean="0"/>
              <a:t>"</a:t>
            </a:r>
            <a:r>
              <a:rPr lang="en-US" dirty="0"/>
              <a:t>Conceptual Level</a:t>
            </a:r>
            <a:r>
              <a:rPr lang="en-US" dirty="0" smtClean="0"/>
              <a:t>.</a:t>
            </a:r>
          </a:p>
          <a:p>
            <a:pPr>
              <a:buFont typeface="Wingdings" panose="05000000000000000000" pitchFamily="2" charset="2"/>
              <a:buChar char="Ø"/>
            </a:pPr>
            <a:r>
              <a:rPr lang="en-US" dirty="0" smtClean="0"/>
              <a:t>"</a:t>
            </a:r>
            <a:r>
              <a:rPr lang="en-US" dirty="0"/>
              <a:t>Internal or Physical Level.</a:t>
            </a:r>
            <a:endParaRPr lang="en-IN" dirty="0"/>
          </a:p>
        </p:txBody>
      </p:sp>
    </p:spTree>
    <p:extLst>
      <p:ext uri="{BB962C8B-B14F-4D97-AF65-F5344CB8AC3E}">
        <p14:creationId xmlns:p14="http://schemas.microsoft.com/office/powerpoint/2010/main" val="32553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or View Level</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This level is closest to the users and is concerned with the way in which the data is viewed by individual users. Most of the users are not </a:t>
            </a:r>
            <a:r>
              <a:rPr lang="en-US" dirty="0" err="1"/>
              <a:t>concemed</a:t>
            </a:r>
            <a:r>
              <a:rPr lang="en-US" dirty="0"/>
              <a:t> with all the information contained in the relational database. Instead they need only a part of the database relevant to them. The system provides many views for the same database.</a:t>
            </a:r>
            <a:endParaRPr lang="en-IN" dirty="0"/>
          </a:p>
        </p:txBody>
      </p:sp>
    </p:spTree>
    <p:extLst>
      <p:ext uri="{BB962C8B-B14F-4D97-AF65-F5344CB8AC3E}">
        <p14:creationId xmlns:p14="http://schemas.microsoft.com/office/powerpoint/2010/main" val="4005114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or View Level</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"It consists of the definition of logical records and relationships in the external view</a:t>
            </a:r>
            <a:r>
              <a:rPr lang="en-US" dirty="0" smtClean="0"/>
              <a:t>.</a:t>
            </a:r>
          </a:p>
          <a:p>
            <a:pPr>
              <a:buFont typeface="Wingdings" panose="05000000000000000000" pitchFamily="2" charset="2"/>
              <a:buChar char="Ø"/>
            </a:pPr>
            <a:r>
              <a:rPr lang="en-US" dirty="0" smtClean="0"/>
              <a:t>"</a:t>
            </a:r>
            <a:r>
              <a:rPr lang="en-US" dirty="0"/>
              <a:t>It also contains the methods for deriving the objects such as entities. attributes and relationships in the external view from the conceptual view.</a:t>
            </a:r>
            <a:endParaRPr lang="en-IN" dirty="0"/>
          </a:p>
        </p:txBody>
      </p:sp>
    </p:spTree>
    <p:extLst>
      <p:ext uri="{BB962C8B-B14F-4D97-AF65-F5344CB8AC3E}">
        <p14:creationId xmlns:p14="http://schemas.microsoft.com/office/powerpoint/2010/main" val="964935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Level</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The sum total of RDBMS users view</a:t>
            </a:r>
            <a:r>
              <a:rPr lang="en-US" dirty="0" smtClean="0"/>
              <a:t>.</a:t>
            </a:r>
          </a:p>
          <a:p>
            <a:pPr>
              <a:buFont typeface="Wingdings" panose="05000000000000000000" pitchFamily="2" charset="2"/>
              <a:buChar char="Ø"/>
            </a:pPr>
            <a:r>
              <a:rPr lang="en-US" dirty="0" smtClean="0"/>
              <a:t>*</a:t>
            </a:r>
            <a:r>
              <a:rPr lang="en-US" dirty="0"/>
              <a:t>Describes what data are actually stored in the database (le all the records and relationships included in the database</a:t>
            </a:r>
            <a:r>
              <a:rPr lang="en-US" dirty="0" smtClean="0"/>
              <a:t>).</a:t>
            </a:r>
          </a:p>
          <a:p>
            <a:pPr>
              <a:buFont typeface="Wingdings" panose="05000000000000000000" pitchFamily="2" charset="2"/>
              <a:buChar char="Ø"/>
            </a:pPr>
            <a:r>
              <a:rPr lang="en-US" dirty="0" smtClean="0"/>
              <a:t>*</a:t>
            </a:r>
            <a:r>
              <a:rPr lang="en-US" dirty="0"/>
              <a:t>The conceptual view is defined by means of the conceptual schema, which includes the definition of each of the various types of conceptual records and the mapping between the conceptual schema and the internal schema.</a:t>
            </a:r>
            <a:endParaRPr lang="en-IN" dirty="0"/>
          </a:p>
        </p:txBody>
      </p:sp>
    </p:spTree>
    <p:extLst>
      <p:ext uri="{BB962C8B-B14F-4D97-AF65-F5344CB8AC3E}">
        <p14:creationId xmlns:p14="http://schemas.microsoft.com/office/powerpoint/2010/main" val="2172670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Internal or Physical Level</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The internal level is closest to physical </a:t>
            </a:r>
            <a:r>
              <a:rPr lang="en-US" dirty="0" err="1"/>
              <a:t>starage</a:t>
            </a:r>
            <a:r>
              <a:rPr lang="en-US" dirty="0"/>
              <a:t>. This level is also termed as physical Level. It describes how the data are actually stored on the storage medium. At this level, complex low-level data structures </a:t>
            </a:r>
            <a:r>
              <a:rPr lang="en-US" dirty="0" err="1"/>
              <a:t>aredescribed</a:t>
            </a:r>
            <a:r>
              <a:rPr lang="en-US" dirty="0"/>
              <a:t> in detail.</a:t>
            </a:r>
            <a:endParaRPr lang="en-IN" dirty="0"/>
          </a:p>
        </p:txBody>
      </p:sp>
    </p:spTree>
    <p:extLst>
      <p:ext uri="{BB962C8B-B14F-4D97-AF65-F5344CB8AC3E}">
        <p14:creationId xmlns:p14="http://schemas.microsoft.com/office/powerpoint/2010/main" val="2941988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Data Independence</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It refers to the ability to modify the conceptual scheme without causing any change in the schemes followed at view levels. The logical data independence ensures that the application programs remain the same. Modifications at the conceptual level are necessary whenever logical structures of the relational database get altered because of some unavoidable reasons.</a:t>
            </a:r>
            <a:endParaRPr lang="en-IN" dirty="0"/>
          </a:p>
        </p:txBody>
      </p:sp>
    </p:spTree>
    <p:extLst>
      <p:ext uri="{BB962C8B-B14F-4D97-AF65-F5344CB8AC3E}">
        <p14:creationId xmlns:p14="http://schemas.microsoft.com/office/powerpoint/2010/main" val="1505193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RDBMS Architecture</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Describes the software components used to enter and process data</a:t>
            </a:r>
            <a:r>
              <a:rPr lang="en-US" dirty="0" smtClean="0"/>
              <a:t>.</a:t>
            </a:r>
          </a:p>
          <a:p>
            <a:pPr>
              <a:buFont typeface="Wingdings" panose="05000000000000000000" pitchFamily="2" charset="2"/>
              <a:buChar char="Ø"/>
            </a:pPr>
            <a:r>
              <a:rPr lang="en-US" dirty="0" smtClean="0"/>
              <a:t>"</a:t>
            </a:r>
            <a:r>
              <a:rPr lang="en-US" dirty="0"/>
              <a:t>How these component are related and interconnected.</a:t>
            </a:r>
            <a:endParaRPr lang="en-IN" dirty="0"/>
          </a:p>
        </p:txBody>
      </p:sp>
    </p:spTree>
    <p:extLst>
      <p:ext uri="{BB962C8B-B14F-4D97-AF65-F5344CB8AC3E}">
        <p14:creationId xmlns:p14="http://schemas.microsoft.com/office/powerpoint/2010/main" val="1741416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94114"/>
            <a:ext cx="8596668" cy="3526972"/>
          </a:xfrm>
        </p:spPr>
        <p:txBody>
          <a:bodyPr>
            <a:noAutofit/>
          </a:bodyPr>
          <a:lstStyle/>
          <a:p>
            <a:r>
              <a:rPr lang="en-US" sz="9600" dirty="0" smtClean="0">
                <a:latin typeface="Kunstler Script" panose="030304020206070D0D06" pitchFamily="66" charset="0"/>
              </a:rPr>
              <a:t>       </a:t>
            </a:r>
            <a:r>
              <a:rPr lang="en-US" sz="9600" dirty="0" smtClean="0">
                <a:latin typeface="Edwardian Script ITC" panose="030303020407070D0804" pitchFamily="66" charset="0"/>
              </a:rPr>
              <a:t>Thank </a:t>
            </a:r>
            <a:br>
              <a:rPr lang="en-US" sz="9600" dirty="0" smtClean="0">
                <a:latin typeface="Edwardian Script ITC" panose="030303020407070D0804" pitchFamily="66" charset="0"/>
              </a:rPr>
            </a:br>
            <a:r>
              <a:rPr lang="en-US" sz="9600" dirty="0">
                <a:latin typeface="Edwardian Script ITC" panose="030303020407070D0804" pitchFamily="66" charset="0"/>
              </a:rPr>
              <a:t> </a:t>
            </a:r>
            <a:r>
              <a:rPr lang="en-US" sz="9600" dirty="0" smtClean="0">
                <a:latin typeface="Edwardian Script ITC" panose="030303020407070D0804" pitchFamily="66" charset="0"/>
              </a:rPr>
              <a:t>               You …          </a:t>
            </a:r>
            <a:endParaRPr lang="en-IN" sz="9600" dirty="0">
              <a:latin typeface="Edwardian Script ITC" panose="030303020407070D0804" pitchFamily="66" charset="0"/>
            </a:endParaRPr>
          </a:p>
        </p:txBody>
      </p:sp>
    </p:spTree>
    <p:extLst>
      <p:ext uri="{BB962C8B-B14F-4D97-AF65-F5344CB8AC3E}">
        <p14:creationId xmlns:p14="http://schemas.microsoft.com/office/powerpoint/2010/main" val="28521306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85</TotalTime>
  <Words>564</Words>
  <Application>Microsoft Office PowerPoint</Application>
  <PresentationFormat>Widescreen</PresentationFormat>
  <Paragraphs>40</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Edwardian Script ITC</vt:lpstr>
      <vt:lpstr>Harlow Solid Italic</vt:lpstr>
      <vt:lpstr>Kunstler Script</vt:lpstr>
      <vt:lpstr>Trebuchet MS</vt:lpstr>
      <vt:lpstr>Wingdings</vt:lpstr>
      <vt:lpstr>Wingdings 3</vt:lpstr>
      <vt:lpstr>Facet</vt:lpstr>
      <vt:lpstr>Welcome                              </vt:lpstr>
      <vt:lpstr>RELATIONAL DATABASE MANAGEMENT SYSTEM (RDBMS) ARCHITECTURE  </vt:lpstr>
      <vt:lpstr>DATA MODELS</vt:lpstr>
      <vt:lpstr>OBJECTIVES</vt:lpstr>
      <vt:lpstr>RDBMS ARCHITECTURE</vt:lpstr>
      <vt:lpstr>Three Level Architecture of RDBMS</vt:lpstr>
      <vt:lpstr>External or View Level</vt:lpstr>
      <vt:lpstr>External or View Level</vt:lpstr>
      <vt:lpstr>Conceptual Level</vt:lpstr>
      <vt:lpstr>Internal or Physical Level</vt:lpstr>
      <vt:lpstr>Physical Data Independence</vt:lpstr>
      <vt:lpstr>Physical RDBMS Architecture</vt:lpstr>
      <vt:lpstr>       Thank                  You …          </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MANAGEMENT SYSTEM(RDBMS)</dc:title>
  <dc:creator>Santosh S. Gaiwal</dc:creator>
  <cp:lastModifiedBy>Santosh S. Gaiwal</cp:lastModifiedBy>
  <cp:revision>11</cp:revision>
  <dcterms:created xsi:type="dcterms:W3CDTF">2024-03-18T15:18:44Z</dcterms:created>
  <dcterms:modified xsi:type="dcterms:W3CDTF">2024-03-18T16:44:43Z</dcterms:modified>
</cp:coreProperties>
</file>